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8" r:id="rId2"/>
    <p:sldId id="257" r:id="rId3"/>
    <p:sldId id="262" r:id="rId4"/>
    <p:sldId id="269" r:id="rId5"/>
    <p:sldId id="263" r:id="rId6"/>
    <p:sldId id="265" r:id="rId7"/>
    <p:sldId id="266" r:id="rId8"/>
    <p:sldId id="258" r:id="rId9"/>
    <p:sldId id="259" r:id="rId10"/>
    <p:sldId id="260" r:id="rId11"/>
    <p:sldId id="261" r:id="rId12"/>
    <p:sldId id="270" r:id="rId13"/>
    <p:sldId id="264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03" autoAdjust="0"/>
    <p:restoredTop sz="94660"/>
  </p:normalViewPr>
  <p:slideViewPr>
    <p:cSldViewPr>
      <p:cViewPr>
        <p:scale>
          <a:sx n="70" d="100"/>
          <a:sy n="70" d="100"/>
        </p:scale>
        <p:origin x="-1362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935871B-7511-4C83-8275-13F73EFB94F1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1447800"/>
            <a:ext cx="8305800" cy="2438400"/>
          </a:xfrm>
        </p:spPr>
        <p:txBody>
          <a:bodyPr>
            <a:noAutofit/>
          </a:bodyPr>
          <a:lstStyle/>
          <a:p>
            <a:r>
              <a:rPr lang="en-GB" sz="8000" dirty="0" smtClean="0"/>
              <a:t>         Online Fee </a:t>
            </a:r>
            <a:br>
              <a:rPr lang="en-GB" sz="8000" dirty="0" smtClean="0"/>
            </a:br>
            <a:r>
              <a:rPr lang="en-GB" sz="8000" dirty="0" smtClean="0"/>
              <a:t>    Payment System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/>
            </a:r>
            <a:br>
              <a:rPr lang="en-GB" b="1" dirty="0"/>
            </a:br>
            <a:r>
              <a:rPr lang="en-GB" sz="4900" b="1" dirty="0"/>
              <a:t>Introduction </a:t>
            </a:r>
            <a:r>
              <a:rPr lang="en-GB" sz="4900" b="1" dirty="0" smtClean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Autofit/>
          </a:bodyPr>
          <a:lstStyle/>
          <a:p>
            <a:r>
              <a:rPr lang="en-GB" sz="2400" dirty="0" smtClean="0"/>
              <a:t>Online fee payment system provides sophisticated and secure payment solution for educational institutions to collect and manage fee transactions. </a:t>
            </a:r>
          </a:p>
          <a:p>
            <a:r>
              <a:rPr lang="en-GB" sz="2400" dirty="0" smtClean="0"/>
              <a:t>It also helps students to pay their college fees and exam fees without visiting college. </a:t>
            </a:r>
          </a:p>
          <a:p>
            <a:r>
              <a:rPr lang="en-GB" sz="2400" dirty="0" smtClean="0"/>
              <a:t>It helps for management to pay salary for staff through online.</a:t>
            </a:r>
          </a:p>
          <a:p>
            <a:r>
              <a:rPr lang="en-GB" sz="2400" dirty="0" smtClean="0"/>
              <a:t>Admin can generate various fee structures and fees receipt, also send instant alert to parents in case fee dues.</a:t>
            </a:r>
            <a:endParaRPr lang="en-US" sz="2400" dirty="0" smtClean="0"/>
          </a:p>
          <a:p>
            <a:r>
              <a:rPr lang="en-GB" sz="2400" dirty="0" smtClean="0"/>
              <a:t>The main advantage for management is they can keep track about all bank transaction about staff salary and student fees.</a:t>
            </a:r>
            <a:endParaRPr lang="en-US" sz="2400" dirty="0" smtClean="0"/>
          </a:p>
          <a:p>
            <a:pPr>
              <a:buNone/>
            </a:pPr>
            <a:r>
              <a:rPr lang="en-GB" sz="2400" dirty="0" smtClean="0"/>
              <a:t> </a:t>
            </a:r>
            <a:endParaRPr lang="en-US" sz="2400" dirty="0" smtClean="0"/>
          </a:p>
          <a:p>
            <a:pPr>
              <a:buNone/>
            </a:pPr>
            <a:r>
              <a:rPr lang="en-GB" sz="2400" dirty="0" smtClean="0"/>
              <a:t> 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GB" sz="4900" b="1" dirty="0"/>
              <a:t>Existing </a:t>
            </a:r>
            <a:r>
              <a:rPr lang="en-GB" sz="4900" b="1" dirty="0" smtClean="0"/>
              <a:t>System 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4983163"/>
          </a:xfrm>
        </p:spPr>
        <p:txBody>
          <a:bodyPr>
            <a:normAutofit/>
          </a:bodyPr>
          <a:lstStyle/>
          <a:p>
            <a:r>
              <a:rPr lang="en-GB" dirty="0" smtClean="0"/>
              <a:t>U</a:t>
            </a:r>
            <a:r>
              <a:rPr lang="en-GB" dirty="0" smtClean="0"/>
              <a:t>ser </a:t>
            </a:r>
            <a:r>
              <a:rPr lang="en-GB" dirty="0"/>
              <a:t>has to carry out each process manually for making college/exam fees </a:t>
            </a:r>
            <a:r>
              <a:rPr lang="en-GB" dirty="0" smtClean="0"/>
              <a:t>payment.</a:t>
            </a:r>
            <a:endParaRPr lang="en-GB" dirty="0"/>
          </a:p>
          <a:p>
            <a:r>
              <a:rPr lang="en-GB" dirty="0"/>
              <a:t>In case of exam fee he/she has to take exam form </a:t>
            </a:r>
            <a:r>
              <a:rPr lang="en-GB" dirty="0" smtClean="0"/>
              <a:t>fill manually .</a:t>
            </a:r>
          </a:p>
          <a:p>
            <a:r>
              <a:rPr lang="en-GB" dirty="0" smtClean="0"/>
              <a:t> </a:t>
            </a:r>
            <a:r>
              <a:rPr lang="en-GB" dirty="0"/>
              <a:t>Student has to submit all the documents </a:t>
            </a:r>
            <a:r>
              <a:rPr lang="en-GB" dirty="0" err="1"/>
              <a:t>xerox</a:t>
            </a:r>
            <a:r>
              <a:rPr lang="en-GB" dirty="0"/>
              <a:t> and paste a photo on exam form. </a:t>
            </a:r>
          </a:p>
          <a:p>
            <a:r>
              <a:rPr lang="en-GB" dirty="0"/>
              <a:t>Staff has to verify all documents manually and </a:t>
            </a:r>
            <a:r>
              <a:rPr lang="en-GB" dirty="0" smtClean="0"/>
              <a:t>it</a:t>
            </a:r>
            <a:r>
              <a:rPr lang="en-GB" dirty="0" smtClean="0"/>
              <a:t> </a:t>
            </a:r>
            <a:r>
              <a:rPr lang="en-GB" dirty="0"/>
              <a:t>is lengthy process.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is overhead for the staff to collect and maintain student details.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sz="4400" b="1" dirty="0"/>
              <a:t>Disadvantages </a:t>
            </a:r>
            <a:r>
              <a:rPr lang="en-GB" sz="4400" b="1" dirty="0" smtClean="0"/>
              <a:t>: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time consuming.</a:t>
            </a:r>
            <a:endParaRPr lang="en-US" dirty="0"/>
          </a:p>
          <a:p>
            <a:r>
              <a:rPr lang="en-GB" dirty="0"/>
              <a:t>Retrieval of data takes lot of time.</a:t>
            </a:r>
            <a:endParaRPr lang="en-US" dirty="0"/>
          </a:p>
          <a:p>
            <a:r>
              <a:rPr lang="en-GB" dirty="0"/>
              <a:t>It creates lot disturbances in college </a:t>
            </a:r>
            <a:r>
              <a:rPr lang="en-GB" dirty="0" smtClean="0"/>
              <a:t>campus.</a:t>
            </a:r>
            <a:endParaRPr lang="en-US" dirty="0"/>
          </a:p>
          <a:p>
            <a:r>
              <a:rPr lang="en-GB" dirty="0"/>
              <a:t>Student can miss the class by giving reason of fee payment.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295400"/>
          </a:xfrm>
        </p:spPr>
        <p:txBody>
          <a:bodyPr>
            <a:normAutofit fontScale="90000"/>
          </a:bodyPr>
          <a:lstStyle/>
          <a:p>
            <a:pPr lvl="0"/>
            <a:r>
              <a:rPr lang="en-GB" sz="4900" b="1" dirty="0"/>
              <a:t>Proposed </a:t>
            </a:r>
            <a:r>
              <a:rPr lang="en-GB" sz="4900" b="1" dirty="0" smtClean="0"/>
              <a:t>System 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txBody>
          <a:bodyPr>
            <a:normAutofit fontScale="92500"/>
          </a:bodyPr>
          <a:lstStyle/>
          <a:p>
            <a:pPr>
              <a:buNone/>
            </a:pPr>
            <a:endParaRPr lang="en-GB" dirty="0" smtClean="0"/>
          </a:p>
          <a:p>
            <a:r>
              <a:rPr lang="en-GB" dirty="0" smtClean="0"/>
              <a:t>Online </a:t>
            </a:r>
            <a:r>
              <a:rPr lang="en-GB" dirty="0"/>
              <a:t>fee payment system, in this system there are two </a:t>
            </a:r>
            <a:r>
              <a:rPr lang="en-GB" dirty="0" smtClean="0"/>
              <a:t> parts </a:t>
            </a:r>
            <a:r>
              <a:rPr lang="en-GB" dirty="0"/>
              <a:t>one is admin part and </a:t>
            </a:r>
            <a:r>
              <a:rPr lang="en-GB" dirty="0" smtClean="0"/>
              <a:t>user </a:t>
            </a:r>
            <a:r>
              <a:rPr lang="en-GB" dirty="0"/>
              <a:t>part(students). </a:t>
            </a:r>
          </a:p>
          <a:p>
            <a:r>
              <a:rPr lang="en-GB" dirty="0"/>
              <a:t> First part is admin can see all transaction related to student fees &amp; staff salary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Only admin will be able to add, delete or update students details related fees. </a:t>
            </a:r>
            <a:endParaRPr lang="en-GB" dirty="0" smtClean="0"/>
          </a:p>
          <a:p>
            <a:r>
              <a:rPr lang="en-GB" dirty="0" smtClean="0"/>
              <a:t>And </a:t>
            </a:r>
            <a:r>
              <a:rPr lang="en-GB" dirty="0"/>
              <a:t>admin can send mails to students. And he can see the list of students who had not made full payment of fees. </a:t>
            </a:r>
          </a:p>
          <a:p>
            <a:r>
              <a:rPr lang="en-GB" dirty="0"/>
              <a:t>Admin can add directly salary to the staff account.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User </a:t>
            </a:r>
            <a:r>
              <a:rPr lang="en-US" sz="4400" b="1" dirty="0" smtClean="0"/>
              <a:t>part :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Second part that is </a:t>
            </a:r>
            <a:r>
              <a:rPr lang="en-GB" dirty="0" smtClean="0"/>
              <a:t>students </a:t>
            </a:r>
            <a:r>
              <a:rPr lang="en-GB" dirty="0"/>
              <a:t>or user part they can make only fee payment and see their fee status. They are not allowed to make any changes.</a:t>
            </a:r>
          </a:p>
          <a:p>
            <a:r>
              <a:rPr lang="en-US" dirty="0"/>
              <a:t>Student can make college or exam fee payment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Many payment methods are provided(debit/credit card/ATM card/UPI). </a:t>
            </a:r>
          </a:p>
          <a:p>
            <a:r>
              <a:rPr lang="en-US" dirty="0" smtClean="0"/>
              <a:t>Students receive the receipt, they can take printout of receipt.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8288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GB" sz="4900" b="1" dirty="0"/>
              <a:t>Features</a:t>
            </a:r>
            <a:r>
              <a:rPr lang="en-GB" sz="4900" dirty="0"/>
              <a:t> </a:t>
            </a:r>
            <a:r>
              <a:rPr lang="en-GB" sz="4900" dirty="0" smtClean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To provide huge maintenance of records.</a:t>
            </a:r>
            <a:endParaRPr lang="en-US" dirty="0"/>
          </a:p>
          <a:p>
            <a:pPr lvl="0"/>
            <a:r>
              <a:rPr lang="en-GB" dirty="0"/>
              <a:t>Flexibility of transaction can be completed on time.</a:t>
            </a:r>
            <a:endParaRPr lang="en-US" dirty="0"/>
          </a:p>
          <a:p>
            <a:pPr lvl="0"/>
            <a:r>
              <a:rPr lang="en-GB" dirty="0"/>
              <a:t>To provide easy and secure payment for exam and college fee.</a:t>
            </a:r>
            <a:endParaRPr lang="en-US" dirty="0"/>
          </a:p>
          <a:p>
            <a:pPr lvl="0"/>
            <a:r>
              <a:rPr lang="en-GB" dirty="0"/>
              <a:t>To provide easy reference for staff and students.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System </a:t>
            </a:r>
            <a:r>
              <a:rPr lang="en-US" sz="4400" dirty="0" smtClean="0"/>
              <a:t>Architecture:</a:t>
            </a:r>
            <a:endParaRPr lang="en-US" sz="4400" dirty="0"/>
          </a:p>
        </p:txBody>
      </p:sp>
      <p:pic>
        <p:nvPicPr>
          <p:cNvPr id="68" name="Picture 67" descr="vf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838200" y="1524000"/>
            <a:ext cx="7315200" cy="4869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Data Flow </a:t>
            </a:r>
            <a:r>
              <a:rPr lang="en-US" sz="4400" dirty="0" smtClean="0"/>
              <a:t>Diagram:</a:t>
            </a:r>
            <a:endParaRPr lang="en-US" sz="4400" dirty="0"/>
          </a:p>
        </p:txBody>
      </p:sp>
      <p:pic>
        <p:nvPicPr>
          <p:cNvPr id="24" name="Picture 23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8486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Admin:</a:t>
            </a:r>
            <a:endParaRPr lang="en-US" sz="4400" b="1" dirty="0"/>
          </a:p>
        </p:txBody>
      </p:sp>
      <p:pic>
        <p:nvPicPr>
          <p:cNvPr id="65" name="Picture 64" descr="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7400"/>
            <a:ext cx="7620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User(Students</a:t>
            </a:r>
            <a:r>
              <a:rPr lang="en-US" sz="4400" b="1" dirty="0" smtClean="0"/>
              <a:t>):</a:t>
            </a:r>
            <a:endParaRPr lang="en-US" sz="4400" b="1" dirty="0"/>
          </a:p>
        </p:txBody>
      </p:sp>
      <p:pic>
        <p:nvPicPr>
          <p:cNvPr id="57" name="Picture 56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415641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System </a:t>
            </a:r>
            <a:r>
              <a:rPr lang="en-US" sz="4400" b="1" dirty="0" smtClean="0"/>
              <a:t>Requirements: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GB" sz="3300" b="1" dirty="0" smtClean="0"/>
              <a:t>Software Requirements:</a:t>
            </a:r>
            <a:endParaRPr lang="en-US" sz="3300" dirty="0" smtClean="0"/>
          </a:p>
          <a:p>
            <a:pPr>
              <a:buFont typeface="Wingdings" pitchFamily="2" charset="2"/>
              <a:buChar char="§"/>
            </a:pPr>
            <a:r>
              <a:rPr lang="en-GB" dirty="0" smtClean="0"/>
              <a:t>Front </a:t>
            </a:r>
            <a:r>
              <a:rPr lang="en-GB" dirty="0" smtClean="0"/>
              <a:t>End  :   HTML </a:t>
            </a:r>
            <a:endParaRPr lang="en-GB" dirty="0" smtClean="0"/>
          </a:p>
          <a:p>
            <a:pPr>
              <a:buFont typeface="Wingdings" pitchFamily="2" charset="2"/>
              <a:buChar char="§"/>
            </a:pPr>
            <a:r>
              <a:rPr lang="en-GB" dirty="0" smtClean="0"/>
              <a:t>Back End </a:t>
            </a:r>
            <a:r>
              <a:rPr lang="en-GB" dirty="0" smtClean="0"/>
              <a:t>  :</a:t>
            </a:r>
            <a:r>
              <a:rPr lang="en-GB" dirty="0" smtClean="0"/>
              <a:t>	</a:t>
            </a:r>
            <a:r>
              <a:rPr lang="en-GB" dirty="0" smtClean="0"/>
              <a:t> MYSQL </a:t>
            </a:r>
            <a:endParaRPr lang="en-GB" dirty="0" smtClean="0"/>
          </a:p>
          <a:p>
            <a:pPr>
              <a:buFont typeface="Wingdings" pitchFamily="2" charset="2"/>
              <a:buChar char="§"/>
            </a:pPr>
            <a:r>
              <a:rPr lang="en-GB" dirty="0" smtClean="0"/>
              <a:t>Server      </a:t>
            </a:r>
            <a:r>
              <a:rPr lang="en-GB" dirty="0" smtClean="0"/>
              <a:t>   :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GB" dirty="0" smtClean="0"/>
              <a:t>Browser   </a:t>
            </a:r>
            <a:r>
              <a:rPr lang="en-GB" dirty="0" smtClean="0"/>
              <a:t>   :</a:t>
            </a:r>
            <a:r>
              <a:rPr lang="en-GB" dirty="0" smtClean="0"/>
              <a:t>	</a:t>
            </a:r>
            <a:r>
              <a:rPr lang="en-GB" dirty="0" smtClean="0"/>
              <a:t> Google </a:t>
            </a:r>
            <a:r>
              <a:rPr lang="en-GB" dirty="0" smtClean="0"/>
              <a:t>chrome, Internet Explorer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GB" sz="3300" b="1" dirty="0" smtClean="0"/>
              <a:t>Hardware Requirements:</a:t>
            </a:r>
            <a:endParaRPr lang="en-US" sz="3300" dirty="0" smtClean="0"/>
          </a:p>
          <a:p>
            <a:pPr>
              <a:buFont typeface="Wingdings" pitchFamily="2" charset="2"/>
              <a:buChar char="§"/>
            </a:pPr>
            <a:r>
              <a:rPr lang="en-GB" dirty="0" smtClean="0"/>
              <a:t> Operating System  :   Windows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Processor                :    Intel </a:t>
            </a:r>
            <a:r>
              <a:rPr lang="en-US" dirty="0" smtClean="0"/>
              <a:t>core i3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RAM                        :    4GB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Hard </a:t>
            </a:r>
            <a:r>
              <a:rPr lang="en-US" dirty="0" smtClean="0"/>
              <a:t>Disk              </a:t>
            </a:r>
            <a:r>
              <a:rPr lang="en-US" dirty="0" smtClean="0"/>
              <a:t> :     120GB </a:t>
            </a:r>
            <a:r>
              <a:rPr lang="en-US" dirty="0" smtClean="0"/>
              <a:t>and above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System </a:t>
            </a:r>
            <a:r>
              <a:rPr lang="en-US" dirty="0" smtClean="0"/>
              <a:t>Bus            </a:t>
            </a:r>
            <a:r>
              <a:rPr lang="en-US" dirty="0" smtClean="0"/>
              <a:t> :     64bits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4900" b="1" dirty="0"/>
              <a:t>Conclusion 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conclusion of the project is to provide user to make "</a:t>
            </a:r>
            <a:r>
              <a:rPr lang="en-GB" b="1" dirty="0"/>
              <a:t>Online Payment" </a:t>
            </a:r>
            <a:r>
              <a:rPr lang="en-GB" dirty="0"/>
              <a:t>of college/exam fees and also to pay salary for the staff .It provides secure and safe payment .</a:t>
            </a:r>
          </a:p>
          <a:p>
            <a:r>
              <a:rPr lang="en-GB" dirty="0"/>
              <a:t>Admin can see all the transaction related to college fees, exam fees and staff salary in one view. </a:t>
            </a:r>
          </a:p>
          <a:p>
            <a:r>
              <a:rPr lang="en-GB" dirty="0"/>
              <a:t>Advantage is we have not fixed amount to be paid user can pay the fees in instalment. </a:t>
            </a:r>
          </a:p>
          <a:p>
            <a:r>
              <a:rPr lang="en-GB" dirty="0"/>
              <a:t>Admin can easily get student list who have not paid fees. Admin can send message/inform the students to make payment on time.</a:t>
            </a:r>
            <a:r>
              <a:rPr lang="en-US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897562"/>
          </a:xfrm>
        </p:spPr>
        <p:txBody>
          <a:bodyPr>
            <a:normAutofit/>
          </a:bodyPr>
          <a:lstStyle/>
          <a:p>
            <a:r>
              <a:rPr lang="en-GB" sz="8000" dirty="0" smtClean="0"/>
              <a:t>      Thank you</a:t>
            </a:r>
            <a:br>
              <a:rPr lang="en-GB" sz="8000" dirty="0" smtClean="0"/>
            </a:br>
            <a:r>
              <a:rPr lang="en-GB" sz="8000" dirty="0" smtClean="0"/>
              <a:t/>
            </a:r>
            <a:br>
              <a:rPr lang="en-GB" sz="8000" dirty="0" smtClean="0"/>
            </a:br>
            <a:endParaRPr lang="en-US" sz="8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201</TotalTime>
  <Words>521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         Online Fee      Payment System</vt:lpstr>
      <vt:lpstr> Introduction : </vt:lpstr>
      <vt:lpstr>Existing System : </vt:lpstr>
      <vt:lpstr> Disadvantages :</vt:lpstr>
      <vt:lpstr>Proposed System : </vt:lpstr>
      <vt:lpstr>User part :</vt:lpstr>
      <vt:lpstr>Features : </vt:lpstr>
      <vt:lpstr>System Architecture:</vt:lpstr>
      <vt:lpstr>Data Flow Diagram:</vt:lpstr>
      <vt:lpstr>Admin:</vt:lpstr>
      <vt:lpstr>User(Students):</vt:lpstr>
      <vt:lpstr>System Requirements:</vt:lpstr>
      <vt:lpstr>Conclusion : </vt:lpstr>
      <vt:lpstr>      Thank you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Fee Payment System</dc:title>
  <dc:creator>komal s k</dc:creator>
  <cp:lastModifiedBy>Lenovo</cp:lastModifiedBy>
  <cp:revision>29</cp:revision>
  <dcterms:created xsi:type="dcterms:W3CDTF">2021-06-21T11:50:18Z</dcterms:created>
  <dcterms:modified xsi:type="dcterms:W3CDTF">2021-06-22T10:58:46Z</dcterms:modified>
</cp:coreProperties>
</file>